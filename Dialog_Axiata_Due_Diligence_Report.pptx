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Debt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42</c:v>
                </c:pt>
                <c:pt idx="2">
                  <c:v>104</c:v>
                </c:pt>
                <c:pt idx="3">
                  <c:v>123</c:v>
                </c:pt>
                <c:pt idx="4">
                  <c:v>108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68-4816-BA58-486DB74705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Equity</c:v>
                </c:pt>
              </c:strCache>
            </c:strRef>
          </c:tx>
          <c:spPr>
            <a:solidFill>
              <a:srgbClr val="2E5FA3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82</c:v>
                </c:pt>
                <c:pt idx="1">
                  <c:v>94</c:v>
                </c:pt>
                <c:pt idx="2">
                  <c:v>45</c:v>
                </c:pt>
                <c:pt idx="3">
                  <c:v>66</c:v>
                </c:pt>
                <c:pt idx="4">
                  <c:v>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68-4816-BA58-486DB74705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LKR Billions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8022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62B52"/>
          </a:solidFill>
          <a:ln w="12700">
            <a:solidFill>
              <a:srgbClr val="162B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C9A227"/>
                </a:solidFill>
              </a:rPr>
              <a:t>DIALOG AXIATA PLC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Financial Due Diligence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Research Dashboard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3200400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33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A PE Acquisition Analysis  |  FY2020 – FY2024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3159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Prepared by: </a:t>
            </a:r>
            <a:r>
              <a:rPr lang="en-US" sz="1000" b="1" dirty="0">
                <a:solidFill>
                  <a:srgbClr val="FFFFFF"/>
                </a:solidFill>
              </a:rPr>
              <a:t>Financial Analyst</a:t>
            </a:r>
            <a:r>
              <a:rPr lang="en-US" sz="1000" dirty="0">
                <a:solidFill>
                  <a:srgbClr val="C9A227"/>
                </a:solidFill>
              </a:rPr>
              <a:t>   |   </a:t>
            </a:r>
            <a:r>
              <a:rPr lang="en-US" sz="1000" dirty="0">
                <a:solidFill>
                  <a:srgbClr val="CADCFC"/>
                </a:solidFill>
              </a:rPr>
              <a:t>Tools: </a:t>
            </a:r>
            <a:r>
              <a:rPr lang="en-US" sz="1000" dirty="0">
                <a:solidFill>
                  <a:srgbClr val="FFFFFF"/>
                </a:solidFill>
              </a:rPr>
              <a:t>Python  ·  R (ggplot2)  ·  Excel  ·  PDF Extraction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BB"/>
                </a:solidFill>
              </a:rPr>
              <a:t>Data sources: Dialog Axiata Annual Reports 2020–2024 (official PDFs, verified)  ·  yfinance API  ·  April 2025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1554480" cy="274320"/>
          </a:xfrm>
          <a:prstGeom prst="rect">
            <a:avLst/>
          </a:prstGeom>
          <a:solidFill>
            <a:srgbClr val="243D6B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200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</a:rPr>
              <a:t>Telecom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94560" y="3200400"/>
            <a:ext cx="1554480" cy="274320"/>
          </a:xfrm>
          <a:prstGeom prst="rect">
            <a:avLst/>
          </a:prstGeom>
          <a:solidFill>
            <a:srgbClr val="243D6B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94560" y="3200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</a:rPr>
              <a:t>Sri Lanka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931920" y="3200400"/>
            <a:ext cx="1554480" cy="274320"/>
          </a:xfrm>
          <a:prstGeom prst="rect">
            <a:avLst/>
          </a:prstGeom>
          <a:solidFill>
            <a:srgbClr val="243D6B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0" y="3200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</a:rPr>
              <a:t>Emerging Market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669280" y="3200400"/>
            <a:ext cx="1554480" cy="274320"/>
          </a:xfrm>
          <a:prstGeom prst="rect">
            <a:avLst/>
          </a:prstGeom>
          <a:solidFill>
            <a:srgbClr val="243D6B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3200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</a:rPr>
              <a:t>PE Due Diligence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Executive Summary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406640" y="246888"/>
            <a:ext cx="1463040" cy="2560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</a:rPr>
              <a:t>SLIDE 2 OF 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8595360" cy="5669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109728" cy="56692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227"/>
                </a:solidFill>
              </a:rPr>
              <a:t>RECOMMENDATION:  </a:t>
            </a:r>
            <a:r>
              <a:rPr lang="en-US" sz="1000" dirty="0">
                <a:solidFill>
                  <a:srgbClr val="FFFFFF"/>
                </a:solidFill>
              </a:rPr>
              <a:t>Dialog Axiata represents a CAUTIOUS BUY at the right valuation. Strong operational fundamentals, cleanest balance sheet in peer group, and proven resilience through a macro crisis — offset by 2024 revenue decline and high leverage from recent capex cycle.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627632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627632"/>
            <a:ext cx="411480" cy="54864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627632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166420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</a:rPr>
              <a:t>Revenue peaked at LKR 187.8Bn in 2023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188366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+56% growth over 4 years driven by mobile data, enterprise &amp; home broadband. 2024 dip of 8.9% reflects macro normalisation, not structural decline.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2249424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49424"/>
            <a:ext cx="411480" cy="5486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249424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228600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</a:rPr>
              <a:t>2022 loss was a macro event, not operational failure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50545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Net loss of LKR 33.4Bn driven by LKR 30.3Bn FX losses during Sri Lanka's economic crisis. EBITDA stayed positive at LKR 43.7Bn — core business remained healthy.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2871216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871216"/>
            <a:ext cx="411480" cy="5486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871216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290779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</a:rPr>
              <a:t>EBITDA margin recovery to 38.7% in 2024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" y="312724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Down from 42.6% peak but trending up. EBITDA hit all-time high of LKR 66.3Bn in 2024 despite lower revenue — cost discipline improving.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3493008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493008"/>
            <a:ext cx="411480" cy="5486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493008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3529584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</a:rPr>
              <a:t>Cleanest balance sheet in regional peer group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" y="374904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Debt/Equity of 1.38x vs peer average of 75x. Net Debt/EBITDA of 1.11x. Dialog is conserving capital while peers are highly leveraged.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411480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4114800"/>
            <a:ext cx="411480" cy="54864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11480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7240" y="4151376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</a:rPr>
              <a:t>DCF base case implies equity value of ~LKR 260Bn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7240" y="437083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At 12% WACC, 5% terminal growth, 37% EBITDA margin. Bull case reaches LKR 430Bn. Current market cap ~LKR 240Bn suggests moderate upside.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Dialog Axiata PLC  |  Financial Due Diligence  |  FY2020–2024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943600" y="4892040"/>
            <a:ext cx="29260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ADCFC"/>
                </a:solidFill>
              </a:rPr>
              <a:t>CONFIDENTIAL  |  For Discussion Only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Investment Thesis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406640" y="246888"/>
            <a:ext cx="1463040" cy="2560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</a:rPr>
              <a:t>SLIDE 3 OF 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Why does Dialog Axiata matter to a PE investor?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80160"/>
            <a:ext cx="2743200" cy="34747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2801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BULL CASE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1691640"/>
            <a:ext cx="252374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3864"/>
                </a:solidFill>
              </a:rPr>
              <a:t>Market leader in Sri Lanka telecom — #1 mobile, #1 broadband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3864"/>
                </a:solidFill>
              </a:rPr>
              <a:t>5G spectrum acquisition positions Dialog for next growth cycle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3864"/>
                </a:solidFill>
              </a:rPr>
              <a:t>EBITDA hit all-time high LKR 66.3Bn in 2024 — cost discipline working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3864"/>
                </a:solidFill>
              </a:rPr>
              <a:t>Axiata Group (MY) backing provides regional network and capital access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3864"/>
                </a:solidFill>
              </a:rPr>
              <a:t>LKR stabilisation post-crisis removes key tail risk from 2022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54680" y="128016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280160"/>
            <a:ext cx="2743200" cy="34747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12801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BEAR CASE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64408" y="1691640"/>
            <a:ext cx="252374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3864"/>
                </a:solidFill>
              </a:rPr>
              <a:t>Revenue declined 8.9% in 2024 — growth story losing momentum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3864"/>
                </a:solidFill>
              </a:rPr>
              <a:t>Net margin compressed to 7.3% vs 12% in 2021 — pressure ongoing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3864"/>
                </a:solidFill>
              </a:rPr>
              <a:t>Total debt jumped from LKR 41.8Bn (2021) to LKR 107.7Bn (2024)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3864"/>
                </a:solidFill>
              </a:rPr>
              <a:t>Sri Lanka macro risk remains — sovereign debt restructuring ongoing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3864"/>
                </a:solidFill>
              </a:rPr>
              <a:t>EBITDA margin 38.7% below peer average 43.4% — efficiency gap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128016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280160"/>
            <a:ext cx="2743200" cy="34747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2801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KEY QUESTIONS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44768" y="1691640"/>
            <a:ext cx="252374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3864"/>
                </a:solidFill>
              </a:rPr>
              <a:t>Can 5G monetisation drive a 3rd revenue growth cycle post-2025?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3864"/>
                </a:solidFill>
              </a:rPr>
              <a:t>Will management reduce debt load now capex cycle peaks?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3864"/>
                </a:solidFill>
              </a:rPr>
              <a:t>Enterprise &amp; IoT segment — how large can it grow?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3864"/>
                </a:solidFill>
              </a:rPr>
              <a:t>What is the impact of ongoing LKR volatility on USD-denominated debt?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3864"/>
                </a:solidFill>
              </a:rPr>
              <a:t>Is the 2024 revenue dip cyclical or beginning of market saturation?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4572000"/>
            <a:ext cx="8595360" cy="256032"/>
          </a:xfrm>
          <a:prstGeom prst="rect">
            <a:avLst/>
          </a:prstGeom>
          <a:solidFill>
            <a:srgbClr val="EEF2FF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5720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F3864"/>
                </a:solidFill>
              </a:rPr>
              <a:t>Thesis: Dialog is a resilient telecom franchise with proven crisis recovery capability. Entry valuation and 5G execution are the key swing factors for return.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Dialog Axiata PLC  |  Financial Due Diligence  |  FY2020–2024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943600" y="4892040"/>
            <a:ext cx="29260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ADCFC"/>
                </a:solidFill>
              </a:rPr>
              <a:t>CONFIDENTIAL  |  For Discussion Only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Market &amp; Macro Context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406640" y="246888"/>
            <a:ext cx="1463040" cy="2560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</a:rPr>
              <a:t>SLIDE 4 OF 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Sri Lanka Telecom Industry  |  What is the backdrop for this investment?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4206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98448"/>
            <a:ext cx="91440" cy="164592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898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</a:rPr>
              <a:t>Sri Lanka Telecom Market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682496"/>
            <a:ext cx="3840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~22 million population. Mobile penetration &gt;140%. Market is mature for voice — growth driven by data, 4G/5G, and enterprise digital services. Dialog holds ~40% mobile market share, making it the clear #1 player.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1298448"/>
            <a:ext cx="4206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298448"/>
            <a:ext cx="91440" cy="164592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3898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</a:rPr>
              <a:t>2022 Economic Crisis Impact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1682496"/>
            <a:ext cx="3840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Sri Lanka experienced its worst economic crisis since independence. GDP contracted 7.8%. LKR depreciated ~80% vs USD in 2022. Dialog absorbed LKR 30.3Bn in FX losses — but maintained positive EBITDA, demonstrating operational resilience.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3081528"/>
            <a:ext cx="4206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081528"/>
            <a:ext cx="91440" cy="16459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1729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</a:rPr>
              <a:t>Post-Crisis Recovery (2023–24)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465576"/>
            <a:ext cx="3840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IMF bailout programme stabilised the macro environment. LKR partially recovered. Dialog revenue recovered to LKR 187.8Bn in 2023. 2024 dip reflects consolidation phase, not renewed crisis. Inflation declining from 70%+ peak to single digits.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081528"/>
            <a:ext cx="4206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3081528"/>
            <a:ext cx="91440" cy="16459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1729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</a:rPr>
              <a:t>5G &amp; Digital Growth Opportunity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3465576"/>
            <a:ext cx="3840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Dialog received 5G spectrum allocation. Enterprise IoT, cloud services, and fixed wireless access are emerging revenue streams. Regional peers (Bharti Airtel, Telkom) are 2–3 years ahead on 5G monetisation — Dialog has a clear playbook to follow.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Dialog Axiata PLC  |  Financial Due Diligence  |  FY2020–2024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943600" y="4892040"/>
            <a:ext cx="29260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ADCFC"/>
                </a:solidFill>
              </a:rPr>
              <a:t>CONFIDENTIAL  |  For Discussion Only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Revenue &amp; Growth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406640" y="246888"/>
            <a:ext cx="1463040" cy="2560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</a:rPr>
              <a:t>SLIDE 5 OF 10</a:t>
            </a:r>
            <a:endParaRPr lang="en-US" sz="800" dirty="0"/>
          </a:p>
        </p:txBody>
      </p:sp>
      <p:pic>
        <p:nvPicPr>
          <p:cNvPr id="6" name="Image 0" descr="/home/claude/chart1_revenue_ebit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5943600" cy="3566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46520" y="868680"/>
            <a:ext cx="24231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46520" y="868680"/>
            <a:ext cx="242316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56248" y="960120"/>
            <a:ext cx="2203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Revenue CAGR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2020–2023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556248" y="114300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9E75"/>
                </a:solidFill>
              </a:rPr>
              <a:t>+16.1%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556248" y="1581912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3-year growth phase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6446520" y="1764792"/>
            <a:ext cx="24231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46520" y="1764792"/>
            <a:ext cx="242316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56248" y="1856232"/>
            <a:ext cx="2203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Peak Revenue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2023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556248" y="2039112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864"/>
                </a:solidFill>
              </a:rPr>
              <a:t>187.8B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556248" y="2478024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LKR Millions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446520" y="2660904"/>
            <a:ext cx="24231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46520" y="2660904"/>
            <a:ext cx="242316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56248" y="2752344"/>
            <a:ext cx="2203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2024 vs 2023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Revenue Change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556248" y="2935224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0000"/>
                </a:solidFill>
              </a:rPr>
              <a:t>−8.9%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556248" y="3374136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Consolidation phase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446520" y="3557016"/>
            <a:ext cx="24231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446520" y="3557016"/>
            <a:ext cx="242316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56248" y="3648456"/>
            <a:ext cx="2203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EBITDA 2024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All-time High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556248" y="3831336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27"/>
                </a:solidFill>
              </a:rPr>
              <a:t>66.3B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6556248" y="42702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LKR Millions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274320" y="4526280"/>
            <a:ext cx="8595360" cy="274320"/>
          </a:xfrm>
          <a:prstGeom prst="rect">
            <a:avLst/>
          </a:prstGeom>
          <a:solidFill>
            <a:srgbClr val="FFF8E1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1480" y="45262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F3864"/>
                </a:solidFill>
              </a:rPr>
              <a:t>Analyst note: 2022 EBITDA dip was FX-driven, not operational. The underlying revenue growth story from 2020–2023 was strong at +56% cumulative.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Dialog Axiata PLC  |  Financial Due Diligence  |  FY2020–2024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943600" y="4892040"/>
            <a:ext cx="29260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ADCFC"/>
                </a:solidFill>
              </a:rPr>
              <a:t>CONFIDENTIAL  |  For Discussion Only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Profitability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406640" y="246888"/>
            <a:ext cx="1463040" cy="2560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</a:rPr>
              <a:t>SLIDE 6 OF 10</a:t>
            </a:r>
            <a:endParaRPr lang="en-US" sz="800" dirty="0"/>
          </a:p>
        </p:txBody>
      </p:sp>
      <p:pic>
        <p:nvPicPr>
          <p:cNvPr id="6" name="Image 0" descr="/home/claude/chart2_margin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5943600" cy="3566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46520" y="868680"/>
            <a:ext cx="24231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46520" y="868680"/>
            <a:ext cx="242316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56248" y="960120"/>
            <a:ext cx="2203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Gross Margin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2024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556248" y="114300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864"/>
                </a:solidFill>
              </a:rPr>
              <a:t>42.5%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556248" y="1581912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Recovered to 2021 level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6446520" y="1764792"/>
            <a:ext cx="24231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46520" y="1764792"/>
            <a:ext cx="242316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56248" y="1856232"/>
            <a:ext cx="2203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EBITDA Margin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2024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556248" y="2039112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27"/>
                </a:solidFill>
              </a:rPr>
              <a:t>38.7%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556248" y="2478024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Below 42.6% peak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446520" y="2660904"/>
            <a:ext cx="24231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46520" y="2660904"/>
            <a:ext cx="242316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56248" y="2752344"/>
            <a:ext cx="2203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Net Margin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2024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556248" y="2935224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0000"/>
                </a:solidFill>
              </a:rPr>
              <a:t>7.3%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556248" y="3374136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Down from 12% in 2021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446520" y="3557016"/>
            <a:ext cx="24231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446520" y="3557016"/>
            <a:ext cx="242316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56248" y="3648456"/>
            <a:ext cx="2203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2022 Net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Margin (crisis)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556248" y="3831336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0000"/>
                </a:solidFill>
              </a:rPr>
              <a:t>−18.8%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6556248" y="42702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FX shock year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274320" y="4526280"/>
            <a:ext cx="8595360" cy="274320"/>
          </a:xfrm>
          <a:prstGeom prst="rect">
            <a:avLst/>
          </a:prstGeom>
          <a:solidFill>
            <a:srgbClr val="FFF8E1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1480" y="45262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F3864"/>
                </a:solidFill>
              </a:rPr>
              <a:t>Key insight: Gross and EBITDA margins recovered strongly post-2022. Net margin compression in 2024 driven by higher interest costs on debt taken during capex cycle — not deteriorating operations.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Dialog Axiata PLC  |  Financial Due Diligence  |  FY2020–2024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943600" y="4892040"/>
            <a:ext cx="29260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ADCFC"/>
                </a:solidFill>
              </a:rPr>
              <a:t>CONFIDENTIAL  |  For Discussion Only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Balance Sheet &amp; Leverage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406640" y="246888"/>
            <a:ext cx="1463040" cy="2560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</a:rPr>
              <a:t>SLIDE 7 OF 10</a:t>
            </a:r>
            <a:endParaRPr lang="en-US" sz="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868680"/>
          <a:ext cx="57607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224528"/>
          <a:ext cx="7498080" cy="15544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188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2020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2021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2022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2023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2024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Total Assets (LKR Bn)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187.7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219.0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267.2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286.2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309.1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Total Equity (LKR Bn)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82.2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93.5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45.2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66.3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78.3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Total Debt (LKR Bn)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40.4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41.8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103.6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122.8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107.7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Net Debt (LKR Bn)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23.8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19.8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63.0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82.2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73.9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Debt / Equity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0.49x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0.45x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2.30x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1.85x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1.38x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Net Debt / EBITDA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0.46x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0.33x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1.44x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1.33x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1.11x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172200" y="868680"/>
            <a:ext cx="2651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6172200" y="868680"/>
            <a:ext cx="265176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281928" y="96012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Net Debt/EBITDA 2024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6281928" y="114300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9E75"/>
                </a:solidFill>
              </a:rPr>
              <a:t>1.11x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6281928" y="1581912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Down from 1.44x in 2022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6172200" y="1691640"/>
            <a:ext cx="2651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172200" y="1691640"/>
            <a:ext cx="265176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281928" y="178308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Debt/Equity 2024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281928" y="196596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9E75"/>
                </a:solidFill>
              </a:rPr>
              <a:t>1.38x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6281928" y="2404872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Peer avg: 75x — Dialog cleanest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6172200" y="2514600"/>
            <a:ext cx="2651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72200" y="2514600"/>
            <a:ext cx="265176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281928" y="260604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Total Assets Growth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281928" y="278892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5FA3"/>
                </a:solidFill>
              </a:rPr>
              <a:t>+64.9%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6281928" y="3227832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LKR 187.7Bn → 309.1Bn (5yr)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6172200" y="3337560"/>
            <a:ext cx="2651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172200" y="3337560"/>
            <a:ext cx="265176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81928" y="342900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Peak Debt Year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6281928" y="361188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27"/>
                </a:solidFill>
              </a:rPr>
              <a:t>2023</a:t>
            </a:r>
            <a:endParaRPr lang="en-US" sz="2200" dirty="0"/>
          </a:p>
        </p:txBody>
      </p:sp>
      <p:sp>
        <p:nvSpPr>
          <p:cNvPr id="27" name="Text 23"/>
          <p:cNvSpPr/>
          <p:nvPr/>
        </p:nvSpPr>
        <p:spPr>
          <a:xfrm>
            <a:off x="6281928" y="4050792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LKR 122.8Bn — now declining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Dialog Axiata PLC  |  Financial Due Diligence  |  FY2020–2024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5943600" y="4892040"/>
            <a:ext cx="29260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ADCFC"/>
                </a:solidFill>
              </a:rPr>
              <a:t>CONFIDENTIAL  |  For Discussion Only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Competitor Benchmarking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406640" y="246888"/>
            <a:ext cx="1463040" cy="2560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</a:rPr>
              <a:t>SLIDE 8 OF 10</a:t>
            </a:r>
            <a:endParaRPr lang="en-US" sz="800" dirty="0"/>
          </a:p>
        </p:txBody>
      </p:sp>
      <p:pic>
        <p:nvPicPr>
          <p:cNvPr id="6" name="Image 0" descr="/home/claude/chart3_competitor_ebit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41248"/>
            <a:ext cx="5303520" cy="315468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868680"/>
          <a:ext cx="3246120" cy="1871472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Company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EBITDA Margin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Debt/Equity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ROE %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</a:rPr>
                        <a:t>Dialog Axiata (LK)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38.7%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1.38x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15.9%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Axiata Group (MY)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42.4%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70.0x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1.3%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Bharti Airtel (IN)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52.0%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117.1x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23.1%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Indosat (ID)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37.2%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139.0x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15.3%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Telkom Indonesia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41.8%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50.1x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18.3%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</a:rPr>
                        <a:t>Peer Average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</a:rPr>
                        <a:t>43.4%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</a:rPr>
                        <a:t>75.1x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</a:rPr>
                        <a:t>14.8%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669280" y="2999232"/>
            <a:ext cx="102412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D9E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0" y="2999232"/>
            <a:ext cx="1024128" cy="23774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669280" y="299923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LEVERAGE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5687568" y="3255264"/>
            <a:ext cx="987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1F3864"/>
                </a:solidFill>
              </a:rPr>
              <a:t>Dialog has the cleanest balance sheet in the group — 1.38x D/E vs 75x peer average. Significant competitive advantage.</a:t>
            </a:r>
            <a:endParaRPr lang="en-US" sz="700" dirty="0"/>
          </a:p>
        </p:txBody>
      </p:sp>
      <p:sp>
        <p:nvSpPr>
          <p:cNvPr id="12" name="Shape 8"/>
          <p:cNvSpPr/>
          <p:nvPr/>
        </p:nvSpPr>
        <p:spPr>
          <a:xfrm>
            <a:off x="6784848" y="2999232"/>
            <a:ext cx="102412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784848" y="2999232"/>
            <a:ext cx="1024128" cy="23774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784848" y="299923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MARGIN GAP</a:t>
            </a:r>
            <a:endParaRPr lang="en-US" sz="700" dirty="0"/>
          </a:p>
        </p:txBody>
      </p:sp>
      <p:sp>
        <p:nvSpPr>
          <p:cNvPr id="15" name="Text 11"/>
          <p:cNvSpPr/>
          <p:nvPr/>
        </p:nvSpPr>
        <p:spPr>
          <a:xfrm>
            <a:off x="6803136" y="3255264"/>
            <a:ext cx="987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1F3864"/>
                </a:solidFill>
              </a:rPr>
              <a:t>4.7pp below peer average EBITDA margin. Closeable gap — represents ~LKR 8Bn EBITDA upside at current revenue.</a:t>
            </a:r>
            <a:endParaRPr lang="en-US" sz="700" dirty="0"/>
          </a:p>
        </p:txBody>
      </p:sp>
      <p:sp>
        <p:nvSpPr>
          <p:cNvPr id="16" name="Shape 12"/>
          <p:cNvSpPr/>
          <p:nvPr/>
        </p:nvSpPr>
        <p:spPr>
          <a:xfrm>
            <a:off x="7900416" y="2999232"/>
            <a:ext cx="102412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F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900416" y="2999232"/>
            <a:ext cx="1024128" cy="237744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900416" y="299923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ROE STRENGTH</a:t>
            </a:r>
            <a:endParaRPr lang="en-US" sz="700" dirty="0"/>
          </a:p>
        </p:txBody>
      </p:sp>
      <p:sp>
        <p:nvSpPr>
          <p:cNvPr id="19" name="Text 15"/>
          <p:cNvSpPr/>
          <p:nvPr/>
        </p:nvSpPr>
        <p:spPr>
          <a:xfrm>
            <a:off x="7918704" y="3255264"/>
            <a:ext cx="987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1F3864"/>
                </a:solidFill>
              </a:rPr>
              <a:t>15.9% ROE — above peer average 14.8% and significantly above Axiata Group (1.3%). Capital efficiency is strong.</a:t>
            </a:r>
            <a:endParaRPr lang="en-US" sz="700" dirty="0"/>
          </a:p>
        </p:txBody>
      </p:sp>
      <p:sp>
        <p:nvSpPr>
          <p:cNvPr id="20" name="Shape 16"/>
          <p:cNvSpPr/>
          <p:nvPr/>
        </p:nvSpPr>
        <p:spPr>
          <a:xfrm>
            <a:off x="274320" y="4526280"/>
            <a:ext cx="8595360" cy="274320"/>
          </a:xfrm>
          <a:prstGeom prst="rect">
            <a:avLst/>
          </a:prstGeom>
          <a:solidFill>
            <a:srgbClr val="FFF8E1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11480" y="45262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Source: Dialog data from Annual Report 2024 (PDF verified). Peer data: yfinance API with FX conversion to USD. Peer average excludes Dialog.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Dialog Axiata PLC  |  Financial Due Diligence  |  FY2020–2024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5943600" y="4892040"/>
            <a:ext cx="29260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ADCFC"/>
                </a:solidFill>
              </a:rPr>
              <a:t>CONFIDENTIAL  |  For Discussion Only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DCF Valuation — 3 Scenarios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406640" y="246888"/>
            <a:ext cx="1463040" cy="2560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</a:rPr>
              <a:t>SLIDE 9 OF 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8412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Base year: FY2024  |  5-year explicit projection  |  WACC-based terminal value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2761488" cy="3566160"/>
          </a:xfrm>
          <a:prstGeom prst="rect">
            <a:avLst/>
          </a:prstGeom>
          <a:solidFill>
            <a:srgbClr val="F0FDF4"/>
          </a:solidFill>
          <a:ln w="12700">
            <a:solidFill>
              <a:srgbClr val="1D9E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70432"/>
            <a:ext cx="2761488" cy="34747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70432"/>
            <a:ext cx="2761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BULL CASE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5910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WACC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91640" y="1591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3864"/>
                </a:solidFill>
              </a:rPr>
              <a:t>10%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18836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Rev Growth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91640" y="188366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3864"/>
                </a:solidFill>
              </a:rPr>
              <a:t>12% / 10%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21762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EBITDA Margin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91640" y="21762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3864"/>
                </a:solidFill>
              </a:rPr>
              <a:t>40%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24688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Capex % Rev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91640" y="24688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3864"/>
                </a:solidFill>
              </a:rPr>
              <a:t>18%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" y="2798064"/>
            <a:ext cx="2542032" cy="1828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8895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Enterprise Value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691640" y="288950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D9E75"/>
                </a:solidFill>
              </a:rPr>
              <a:t>LKR 430Bn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31272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Equity Value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691640" y="31272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D9E75"/>
                </a:solidFill>
              </a:rPr>
              <a:t>LKR 356Bn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4048" y="3401568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64748B"/>
                </a:solidFill>
              </a:rPr>
              <a:t>5G monetisation accelerates, margins recover to peer average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172968" y="1170432"/>
            <a:ext cx="2761488" cy="3566160"/>
          </a:xfrm>
          <a:prstGeom prst="rect">
            <a:avLst/>
          </a:prstGeom>
          <a:solidFill>
            <a:srgbClr val="EFF6FF"/>
          </a:solidFill>
          <a:ln w="12700">
            <a:solidFill>
              <a:srgbClr val="2E5F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72968" y="1170432"/>
            <a:ext cx="2761488" cy="347472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72968" y="1170432"/>
            <a:ext cx="2761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BASE CASE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10128" y="15910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WACC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90288" y="1591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3864"/>
                </a:solidFill>
              </a:rPr>
              <a:t>12%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10128" y="18836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Rev Growth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90288" y="188366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3864"/>
                </a:solidFill>
              </a:rPr>
              <a:t>6% / 5%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10128" y="21762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EBITDA Margin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90288" y="21762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3864"/>
                </a:solidFill>
              </a:rPr>
              <a:t>37%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10128" y="24688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Capex % Rev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90288" y="24688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3864"/>
                </a:solidFill>
              </a:rPr>
              <a:t>20%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82696" y="2798064"/>
            <a:ext cx="2542032" cy="1828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10128" y="28895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Enterprise Value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590288" y="288950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5FA3"/>
                </a:solidFill>
              </a:rPr>
              <a:t>LKR 283Bn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310128" y="31272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Equity Value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590288" y="31272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5FA3"/>
                </a:solidFill>
              </a:rPr>
              <a:t>LKR 209Bn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282696" y="3401568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64748B"/>
                </a:solidFill>
              </a:rPr>
              <a:t>Steady recovery, moderate growth, stable macro environment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071616" y="1170432"/>
            <a:ext cx="2761488" cy="3566160"/>
          </a:xfrm>
          <a:prstGeom prst="rect">
            <a:avLst/>
          </a:prstGeom>
          <a:solidFill>
            <a:srgbClr val="FFF1F2"/>
          </a:solidFill>
          <a:ln w="12700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071616" y="1170432"/>
            <a:ext cx="2761488" cy="34747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71616" y="1170432"/>
            <a:ext cx="2761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BEAR CASE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208776" y="15910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WACC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488936" y="1591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3864"/>
                </a:solidFill>
              </a:rPr>
              <a:t>14%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08776" y="18836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Rev Growth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488936" y="188366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3864"/>
                </a:solidFill>
              </a:rPr>
              <a:t>0% / 2%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208776" y="21762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EBITDA Margin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488936" y="21762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3864"/>
                </a:solidFill>
              </a:rPr>
              <a:t>32%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208776" y="24688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Capex % Rev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488936" y="24688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3864"/>
                </a:solidFill>
              </a:rPr>
              <a:t>22%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181344" y="2798064"/>
            <a:ext cx="2542032" cy="1828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08776" y="28895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Enterprise Value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7488936" y="288950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00000"/>
                </a:solidFill>
              </a:rPr>
              <a:t>LKR 172Bn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208776" y="31272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Equity Value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488936" y="31272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0000"/>
                </a:solidFill>
              </a:rPr>
              <a:t>LKR 98Bn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181344" y="3401568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64748B"/>
                </a:solidFill>
              </a:rPr>
              <a:t>Macro headwinds persist, margin pressure, limited growth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74320" y="4572000"/>
            <a:ext cx="8595360" cy="256032"/>
          </a:xfrm>
          <a:prstGeom prst="rect">
            <a:avLst/>
          </a:prstGeom>
          <a:solidFill>
            <a:srgbClr val="EEF2FF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11480" y="45720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F3864"/>
                </a:solidFill>
              </a:rPr>
              <a:t>Current market cap ~LKR 240Bn  |  Base case equity value LKR 209Bn  |  Upside exists in bull case  |  Net debt deducted: LKR 73.9Bn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Dialog Axiata PLC  |  Financial Due Diligence  |  FY2020–2024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943600" y="4892040"/>
            <a:ext cx="29260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ADCFC"/>
                </a:solidFill>
              </a:rPr>
              <a:t>CONFIDENTIAL  |  For Discussion Only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Risks &amp; Recommendation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406640" y="228600"/>
            <a:ext cx="1463040" cy="2560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</a:rPr>
              <a:t>SLIDE 10 OF 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731520"/>
            <a:ext cx="8595360" cy="1828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412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</a:rPr>
              <a:t>KEY RISKS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170432"/>
            <a:ext cx="4114800" cy="493776"/>
          </a:xfrm>
          <a:prstGeom prst="rect">
            <a:avLst/>
          </a:prstGeom>
          <a:solidFill>
            <a:srgbClr val="162B52"/>
          </a:solidFill>
          <a:ln w="12700">
            <a:solidFill>
              <a:srgbClr val="243D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170432"/>
            <a:ext cx="502920" cy="493776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70432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932688" y="1170432"/>
            <a:ext cx="3493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</a:rPr>
              <a:t>Macro / FX risk — Sri Lanka sovereign debt restructuring still in progress. LKR volatility can recur.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1737360"/>
            <a:ext cx="4114800" cy="493776"/>
          </a:xfrm>
          <a:prstGeom prst="rect">
            <a:avLst/>
          </a:prstGeom>
          <a:solidFill>
            <a:srgbClr val="162B52"/>
          </a:solidFill>
          <a:ln w="12700">
            <a:solidFill>
              <a:srgbClr val="243D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737360"/>
            <a:ext cx="502920" cy="493776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737360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932688" y="1737360"/>
            <a:ext cx="3493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</a:rPr>
              <a:t>Revenue decline — 2024 dip of 8.9% needs 2–3 quarters of data to confirm recovery vs structural.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2304288"/>
            <a:ext cx="4114800" cy="493776"/>
          </a:xfrm>
          <a:prstGeom prst="rect">
            <a:avLst/>
          </a:prstGeom>
          <a:solidFill>
            <a:srgbClr val="162B52"/>
          </a:solidFill>
          <a:ln w="12700">
            <a:solidFill>
              <a:srgbClr val="243D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304288"/>
            <a:ext cx="502920" cy="4937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304288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MED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932688" y="2304288"/>
            <a:ext cx="3493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</a:rPr>
              <a:t>Debt load — LKR 107.7Bn total debt is manageable but interest costs are compressing net margins.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2871216"/>
            <a:ext cx="4114800" cy="493776"/>
          </a:xfrm>
          <a:prstGeom prst="rect">
            <a:avLst/>
          </a:prstGeom>
          <a:solidFill>
            <a:srgbClr val="162B52"/>
          </a:solidFill>
          <a:ln w="12700">
            <a:solidFill>
              <a:srgbClr val="243D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871216"/>
            <a:ext cx="502920" cy="4937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871216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MED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932688" y="2871216"/>
            <a:ext cx="3493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</a:rPr>
              <a:t>Competition — SLT-Mobitel (state-owned) competing aggressively on pricing in broadband segment.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438144"/>
            <a:ext cx="4114800" cy="493776"/>
          </a:xfrm>
          <a:prstGeom prst="rect">
            <a:avLst/>
          </a:prstGeom>
          <a:solidFill>
            <a:srgbClr val="162B52"/>
          </a:solidFill>
          <a:ln w="12700">
            <a:solidFill>
              <a:srgbClr val="243D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438144"/>
            <a:ext cx="502920" cy="49377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438144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LOW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932688" y="3438144"/>
            <a:ext cx="3493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</a:rPr>
              <a:t>5G execution risk — capex requirements for 5G rollout could delay deleveraging timeline.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0" y="8412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</a:rPr>
              <a:t>RECOMMENDATION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1170432"/>
            <a:ext cx="4114800" cy="6400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117043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3864"/>
                </a:solidFill>
              </a:rPr>
              <a:t>CAUTIOUS BUY</a:t>
            </a:r>
            <a:endParaRPr lang="en-US" sz="2800" dirty="0"/>
          </a:p>
        </p:txBody>
      </p:sp>
      <p:sp>
        <p:nvSpPr>
          <p:cNvPr id="31" name="Shape 29"/>
          <p:cNvSpPr/>
          <p:nvPr/>
        </p:nvSpPr>
        <p:spPr>
          <a:xfrm>
            <a:off x="4754880" y="1883664"/>
            <a:ext cx="4114800" cy="457200"/>
          </a:xfrm>
          <a:prstGeom prst="rect">
            <a:avLst/>
          </a:prstGeom>
          <a:solidFill>
            <a:srgbClr val="162B52"/>
          </a:solidFill>
          <a:ln w="12700">
            <a:solidFill>
              <a:srgbClr val="243D6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1883664"/>
            <a:ext cx="73152" cy="4572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1883664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</a:rPr>
              <a:t>1.  Entry price at or below LKR 7.50/share (base case equity value)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54880" y="2395728"/>
            <a:ext cx="4114800" cy="457200"/>
          </a:xfrm>
          <a:prstGeom prst="rect">
            <a:avLst/>
          </a:prstGeom>
          <a:solidFill>
            <a:srgbClr val="162B52"/>
          </a:solidFill>
          <a:ln w="12700">
            <a:solidFill>
              <a:srgbClr val="243D6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2395728"/>
            <a:ext cx="73152" cy="4572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2395728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</a:rPr>
              <a:t>2.  Condition: 2 consecutive quarters of revenue recovery post-2024 dip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54880" y="2907792"/>
            <a:ext cx="4114800" cy="457200"/>
          </a:xfrm>
          <a:prstGeom prst="rect">
            <a:avLst/>
          </a:prstGeom>
          <a:solidFill>
            <a:srgbClr val="162B52"/>
          </a:solidFill>
          <a:ln w="12700">
            <a:solidFill>
              <a:srgbClr val="243D6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2907792"/>
            <a:ext cx="73152" cy="4572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2907792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</a:rPr>
              <a:t>3.  Monitor: LKR/USD stability and IMF programme milestones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54880" y="3419856"/>
            <a:ext cx="4114800" cy="457200"/>
          </a:xfrm>
          <a:prstGeom prst="rect">
            <a:avLst/>
          </a:prstGeom>
          <a:solidFill>
            <a:srgbClr val="162B52"/>
          </a:solidFill>
          <a:ln w="12700">
            <a:solidFill>
              <a:srgbClr val="243D6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3419856"/>
            <a:ext cx="73152" cy="4572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3419856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</a:rPr>
              <a:t>4.  Catalyst: 5G commercial launch and enterprise revenue traction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54880" y="3931920"/>
            <a:ext cx="4114800" cy="457200"/>
          </a:xfrm>
          <a:prstGeom prst="rect">
            <a:avLst/>
          </a:prstGeom>
          <a:solidFill>
            <a:srgbClr val="162B52"/>
          </a:solidFill>
          <a:ln w="12700">
            <a:solidFill>
              <a:srgbClr val="243D6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54880" y="3931920"/>
            <a:ext cx="73152" cy="4572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3931920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</a:rPr>
              <a:t>5.  Exit: 18–24 month horizon at 7–8x EV/EBITDA multiple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99BB"/>
                </a:solidFill>
              </a:rPr>
              <a:t>Built with: Python (yfinance, pandas)  ·  R (ggplot2, dplyr)  ·  Excel Financial Model  ·  PDF data extraction from 5 official annual reports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1651</Words>
  <Application>Microsoft Office PowerPoint</Application>
  <PresentationFormat>On-screen Show (16:9)</PresentationFormat>
  <Paragraphs>286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Dialog Axiata PLC — Financial Due Diligence</dc:title>
  <dc:subject>PptxGenJS Presentation</dc:subject>
  <dc:creator>Financial Analyst</dc:creator>
  <cp:lastModifiedBy>ashi ka</cp:lastModifiedBy>
  <cp:revision>1</cp:revision>
  <dcterms:created xsi:type="dcterms:W3CDTF">2026-04-03T07:46:49Z</dcterms:created>
  <dcterms:modified xsi:type="dcterms:W3CDTF">2026-04-03T12:19:04Z</dcterms:modified>
</cp:coreProperties>
</file>