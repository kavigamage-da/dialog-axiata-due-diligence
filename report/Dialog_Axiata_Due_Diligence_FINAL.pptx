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DIALOG AXIATA PLC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 i="0">
                <a:solidFill>
                  <a:srgbClr val="C9A227"/>
                </a:solidFill>
              </a:rPr>
              <a:t>Financial Due Diligence — PE Acquisition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i="0">
                <a:solidFill>
                  <a:srgbClr val="CADCFC"/>
                </a:solidFill>
              </a:rPr>
              <a:t>FY2020 – FY2024  |  Sri Lanka Telecom Sector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108960"/>
            <a:ext cx="5788152" cy="365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371600" y="3291840"/>
            <a:ext cx="2103120" cy="411480"/>
          </a:xfrm>
          <a:prstGeom prst="rect">
            <a:avLst/>
          </a:prstGeom>
          <a:solidFill>
            <a:srgbClr val="2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71600" y="329184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</a:rPr>
              <a:t>Telecom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3291840"/>
            <a:ext cx="2103120" cy="411480"/>
          </a:xfrm>
          <a:prstGeom prst="rect">
            <a:avLst/>
          </a:prstGeom>
          <a:solidFill>
            <a:srgbClr val="2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39" y="329184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</a:rPr>
              <a:t>Sri Lanka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3291840"/>
            <a:ext cx="2103120" cy="411480"/>
          </a:xfrm>
          <a:prstGeom prst="rect">
            <a:avLst/>
          </a:prstGeom>
          <a:solidFill>
            <a:srgbClr val="2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26480" y="329184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</a:rPr>
              <a:t>Emerging Market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291840"/>
            <a:ext cx="2103120" cy="411480"/>
          </a:xfrm>
          <a:prstGeom prst="rect">
            <a:avLst/>
          </a:prstGeom>
          <a:solidFill>
            <a:srgbClr val="2A4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0" y="3291840"/>
            <a:ext cx="2103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C9A227"/>
                </a:solidFill>
              </a:rPr>
              <a:t>PE Due Diligence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CADCFC"/>
                </a:solidFill>
              </a:rPr>
              <a:t>Prepared by: Kavindi Gamage  |  Tools: Python · R (ggplot2) · Excel · PDF Extraction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 i="0">
                <a:solidFill>
                  <a:srgbClr val="909090"/>
                </a:solidFill>
              </a:rPr>
              <a:t>Data: Dialog Axiata Annual Reports 2020–2024 (PDF verified)  ·  yfinance API  ·  April 2025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C9A227"/>
                </a:solidFill>
              </a:rPr>
              <a:t>SLIDE 2 OF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14400"/>
            <a:ext cx="11640312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960120"/>
            <a:ext cx="11430000" cy="594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RECOMMENDATION:  Dialog Axiata is a CAUTIOUS BUY. Strong operational fundamentals, cleanest balance sheet in peer group, and proven resilience through macro crisis — offset by 2024 revenue decline.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502920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92024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0136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Revenue peaked LKR 187.8Bn in 2023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+56% over 4 years. 2024 dip of 8.9% reflects macro normalisation, not structural decline.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51760"/>
            <a:ext cx="502920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278892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7004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2022 loss was macro, not operational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9923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Net loss LKR 33,409Mn driven by LKR 30,280Mn FX losses. EBITDA stayed positive at LKR 43,663Mn.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520439"/>
            <a:ext cx="502920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4320" y="3657599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38727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EBITDA hit all-time high in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67911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LKR 66,276Mn — despite lower revenue. EBITDA margin recovering to 38.7% from 24.5% in 2022.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89120"/>
            <a:ext cx="502920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4320" y="452628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07407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Cleanest balance sheet in peer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73659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Debt/Equity 1.38x vs peer average 75x. Net Debt/EBITDA 1.11x. Minimal leverage risk.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257800"/>
            <a:ext cx="502920" cy="6858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" y="5394960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C9A227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276088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F3864"/>
                </a:solidFill>
              </a:rPr>
              <a:t>DCF base case: Equity Value LKR 220Bn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05272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At 12% WACC, 5% terminal growth. Bull case reaches LKR 619Bn. Current mkt cap ~LKR 240Bn.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743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Dialog Axiata PLC  |  Financial Due Diligence  |  FY2020–2024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CONFIDENTIAL  |  For Discussion Only  |  Slide 2 of 10</a:t>
            </a: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73152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Investment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</a:rPr>
              <a:t>Why does Dialog Axiata matter to a PE investor?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C9A227"/>
                </a:solidFill>
              </a:rPr>
              <a:t>SLIDE 3 OF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3749039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9601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BULL 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3749039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508760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Market leader — #1 mobile, #1 broadband in Sri Lanka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377439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5G spectrum secured — next growth cycle loading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246120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EBITDA all-time high LKR 66,276Mn in 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114800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Axiata Group (MY) backing — regional capital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983479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LKR stabilisation removes key 2022 tail risk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15384" y="960120"/>
            <a:ext cx="3749039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15384" y="9601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BEAR CASE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15384" y="1417320"/>
            <a:ext cx="3749039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06824" y="1508760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Revenue declined 8.9% in 2024 — momentum slowing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6824" y="2377439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Net margin 7.3% vs 12% in 2021 — pressure ongoing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6824" y="3246120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Total debt LKR 107,694Mn — interest costs rising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06824" y="4114800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Sri Lanka macro risk — debt restructuring ongoing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6824" y="4983479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EBITDA margin 38.7% below peer avg 43.4%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02168" y="960120"/>
            <a:ext cx="3749039" cy="457200"/>
          </a:xfrm>
          <a:prstGeom prst="rect">
            <a:avLst/>
          </a:prstGeom>
          <a:solidFill>
            <a:srgbClr val="206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02168" y="9601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KEY QUESTIONS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02168" y="1417320"/>
            <a:ext cx="3749039" cy="47548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93608" y="1508760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Can 5G monetisation drive a 3rd revenue growth cycle?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2377439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Will management reduce debt now capex cycle peaks?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3246120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Enterprise &amp; IoT — how large can this segment grow?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4114800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Impact of LKR volatility on USD-denominated debt?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93608" y="4983479"/>
            <a:ext cx="35661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</a:rPr>
              <a:t>• Is 2024 revenue dip cyclical or structural saturation?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6217920"/>
            <a:ext cx="11731752" cy="41148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623620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1F3864"/>
                </a:solidFill>
              </a:rPr>
              <a:t>Thesis: Dialog is a resilient telecom franchise with proven crisis recovery. Entry valuation and 5G execution are the key swing factors for investor return.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743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Dialog Axiata PLC  |  Financial Due Diligence  |  FY2020–2024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CONFIDENTIAL  |  For Discussion Only  |  Slide 3 of 10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Market &amp; Macro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</a:rPr>
              <a:t>Sri Lanka Telecom Industry  |  Investment backdrop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C9A227"/>
                </a:solidFill>
              </a:rPr>
              <a:t>SLIDE 4 OF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5760720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8600" y="960120"/>
            <a:ext cx="576072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03327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Sri Lanka Telecom 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5486400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~22M population. Mobile penetration &gt;140%. Mature voice market — growth driven by data, 4G/5G, enterprise digital. Dialog holds ~40% mobile market share — clear #1 player.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960120"/>
            <a:ext cx="5760720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960120"/>
            <a:ext cx="576072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03327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2022 Economic Crisis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508760"/>
            <a:ext cx="5486400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Worst economic crisis since independence. GDP contracted 7.8%. LKR depreciated ~80% vs USD. Dialog absorbed LKR 30,280Mn FX losses but maintained positive EBITDA — operational resilience confirmed.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" y="3566160"/>
            <a:ext cx="5760720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28600" y="3566160"/>
            <a:ext cx="576072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363931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Post-Crisis Recovery (2023–24)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114800"/>
            <a:ext cx="5486400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IMF bailout stabilised macro. LKR partially recovered. Dialog revenue recovered to LKR 187,813Mn in 2023. 2024 dip reflects consolidation. Inflation declined from 70%+ peak to single digits.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3566160"/>
            <a:ext cx="5760720" cy="24231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3566160"/>
            <a:ext cx="576072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3639312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5G &amp; Digital Growth Opportunity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114800"/>
            <a:ext cx="5486400" cy="1737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 i="0">
                <a:solidFill>
                  <a:srgbClr val="404040"/>
                </a:solidFill>
              </a:rPr>
              <a:t>Dialog received 5G spectrum. Enterprise IoT, cloud services, fixed wireless are emerging revenue streams. Regional peers (Bharti Airtel, Telkom) are 2–3 years ahead on 5G — Dialog has a clear playbook.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43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Dialog Axiata PLC  |  Financial Due Diligence  |  FY2020–2024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CONFIDENTIAL  |  For Discussion Only  |  Slide 4 of 10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Revenue &amp; Growth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C9A227"/>
                </a:solidFill>
              </a:rPr>
              <a:t>SLIDE 5 OF 10</a:t>
            </a:r>
          </a:p>
        </p:txBody>
      </p:sp>
      <p:pic>
        <p:nvPicPr>
          <p:cNvPr id="5" name="Picture 4" descr="chart1_revenue_ebitda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777240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005840"/>
            <a:ext cx="36576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75320" y="10515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Revenue CAGR
2020–2023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389888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</a:rPr>
              <a:t>+16.1%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78308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3-year growth phase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194560"/>
            <a:ext cx="36576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22402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Peak Revenue
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578608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</a:rPr>
              <a:t>187.8B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97180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LKR Millions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383280"/>
            <a:ext cx="36576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3429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2024 Change
vs 2023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767328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</a:rPr>
              <a:t>−8.9%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16052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Consolidation phase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4572000"/>
            <a:ext cx="36576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46177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EBITDA 2024
All-time High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956048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</a:rPr>
              <a:t>66.3B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53492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LKR Millions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5715000"/>
            <a:ext cx="11731752" cy="41148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573328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1F3864"/>
                </a:solidFill>
              </a:rPr>
              <a:t>Analyst note: 2022 EBITDA dip was FX-driven, not operational. Revenue grew +56% cumulatively from 2020–2023. EBITDA 2024 at all-time high despite lower revenue.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Dialog Axiata PLC  |  Financial Due Diligence  |  FY2020–2024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CONFIDENTIAL  |  For Discussion Only  |  Slide 5 of 10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Profitability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C9A227"/>
                </a:solidFill>
              </a:rPr>
              <a:t>SLIDE 6 OF 10</a:t>
            </a:r>
          </a:p>
        </p:txBody>
      </p:sp>
      <p:pic>
        <p:nvPicPr>
          <p:cNvPr id="5" name="Picture 4" descr="chart2_margin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777240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229600" y="1005840"/>
            <a:ext cx="36576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75320" y="105156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Gross Margin
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75320" y="1389888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</a:rPr>
              <a:t>42.5%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78308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Recovered to 2021 level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194560"/>
            <a:ext cx="36576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224028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EBITDA Margin
2024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578608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</a:rPr>
              <a:t>38.7%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97180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Below 42.6% peak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3383280"/>
            <a:ext cx="36576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342900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Net Margin
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767328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</a:rPr>
              <a:t>7.3%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16052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Down from 12% in 2021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4572000"/>
            <a:ext cx="3657600" cy="10515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4617720"/>
            <a:ext cx="3566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Net Margin
2022 (crisis)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4956048"/>
            <a:ext cx="3566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C00000"/>
                </a:solidFill>
              </a:rPr>
              <a:t>−18.8%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53492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FX shock — not ops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" y="5715000"/>
            <a:ext cx="11731752" cy="41148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573328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1">
                <a:solidFill>
                  <a:srgbClr val="1F3864"/>
                </a:solidFill>
              </a:rPr>
              <a:t>Key insight: Gross and EBITDA margins recovered strongly post-2022. Net margin compression in 2024 driven by higher interest costs — not deteriorating operations.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Dialog Axiata PLC  |  Financial Due Diligence  |  FY2020–2024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CONFIDENTIAL  |  For Discussion Only  | 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Balance Sheet &amp; Leverage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C9A227"/>
                </a:solidFill>
              </a:rPr>
              <a:t>SLIDE 7 OF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14400"/>
            <a:ext cx="278892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960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Net Debt/EBITDA
2024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2606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</a:rPr>
              <a:t>1.11x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91640"/>
            <a:ext cx="2606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Down from 1.44x in 2022</a:t>
            </a:r>
          </a:p>
        </p:txBody>
      </p:sp>
      <p:sp>
        <p:nvSpPr>
          <p:cNvPr id="9" name="Rectangle 8"/>
          <p:cNvSpPr/>
          <p:nvPr/>
        </p:nvSpPr>
        <p:spPr>
          <a:xfrm>
            <a:off x="3227832" y="914400"/>
            <a:ext cx="278892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9272" y="960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Debt/Equity
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1298448"/>
            <a:ext cx="2606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</a:rPr>
              <a:t>1.38x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1691640"/>
            <a:ext cx="2606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Peer avg: 75x — cleanest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7064" y="914400"/>
            <a:ext cx="278892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18503" y="960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Total Assets
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3" y="1298448"/>
            <a:ext cx="2606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</a:rPr>
              <a:t>+64.9%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3" y="1691640"/>
            <a:ext cx="2606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LKR 187.7Bn → 309.1Bn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26296" y="914400"/>
            <a:ext cx="278892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317736" y="960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Peak Debt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7736" y="1298448"/>
            <a:ext cx="2606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</a:rPr>
              <a:t>2023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1691640"/>
            <a:ext cx="2606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LKR 122.8Bn — now declining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2103120"/>
            <a:ext cx="384048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2130552"/>
            <a:ext cx="37490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69080" y="2103120"/>
            <a:ext cx="13716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0" y="21305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40680" y="2103120"/>
            <a:ext cx="13716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0" y="21305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2103120"/>
            <a:ext cx="13716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0" y="21305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83879" y="2103120"/>
            <a:ext cx="13716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0" y="21305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55480" y="2103120"/>
            <a:ext cx="137160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601200" y="2130552"/>
            <a:ext cx="12801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2024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8600" y="2450592"/>
            <a:ext cx="384048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74320" y="2487168"/>
            <a:ext cx="37490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Total Assets (LKR Bn)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69080" y="2450592"/>
            <a:ext cx="137160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114800" y="248716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187.7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40680" y="2450592"/>
            <a:ext cx="137160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86400" y="248716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219.0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80" y="2450592"/>
            <a:ext cx="137160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858000" y="248716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267.2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79" y="2450592"/>
            <a:ext cx="137160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29600" y="248716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286.2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55480" y="2450592"/>
            <a:ext cx="137160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01200" y="248716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309.1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28600" y="2953512"/>
            <a:ext cx="38404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274320" y="2990088"/>
            <a:ext cx="37490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Total Equity (LKR Bn)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69080" y="2953512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114800" y="299008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82.2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40680" y="2953512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486400" y="299008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93.5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12280" y="2953512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858000" y="299008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45.2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183879" y="2953512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229600" y="299008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66.3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55480" y="2953512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01200" y="299008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78.3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28600" y="3456432"/>
            <a:ext cx="384048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74320" y="3493008"/>
            <a:ext cx="37490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Total Debt (LKR Bn)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069080" y="3456432"/>
            <a:ext cx="137160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114800" y="349300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40.4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40680" y="3456432"/>
            <a:ext cx="137160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0" y="349300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41.8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812280" y="3456432"/>
            <a:ext cx="137160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858000" y="349300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103.6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183879" y="3456432"/>
            <a:ext cx="137160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29600" y="349300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122.8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555480" y="3456432"/>
            <a:ext cx="137160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601200" y="349300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107.7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28600" y="3959352"/>
            <a:ext cx="38404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74320" y="3995928"/>
            <a:ext cx="37490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Net Debt (LKR Bn)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069080" y="3959352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4114800" y="399592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23.8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40680" y="3959352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486400" y="399592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19.8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812280" y="3959352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858000" y="399592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63.0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83879" y="3959352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229600" y="399592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82.2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555480" y="3959352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9601200" y="399592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73.9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28600" y="4462272"/>
            <a:ext cx="384048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274320" y="4498848"/>
            <a:ext cx="37490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Debt / Equity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69080" y="4462272"/>
            <a:ext cx="137160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114800" y="449884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0.49x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40680" y="4462272"/>
            <a:ext cx="137160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486400" y="449884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0.45x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812280" y="4462272"/>
            <a:ext cx="137160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6858000" y="449884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2.30x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183879" y="4462272"/>
            <a:ext cx="137160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8229600" y="449884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1.85x</a:t>
            </a:r>
          </a:p>
        </p:txBody>
      </p:sp>
      <p:sp>
        <p:nvSpPr>
          <p:cNvPr id="91" name="Rectangle 90"/>
          <p:cNvSpPr/>
          <p:nvPr/>
        </p:nvSpPr>
        <p:spPr>
          <a:xfrm>
            <a:off x="9555480" y="4462272"/>
            <a:ext cx="1371600" cy="4846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9601200" y="449884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1.38x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28600" y="4965192"/>
            <a:ext cx="384048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74320" y="5001768"/>
            <a:ext cx="374904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Net Debt / EBITDA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069080" y="4965192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4114800" y="500176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0.46x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40680" y="4965192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5486400" y="500176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0.33x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812280" y="4965192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6858000" y="500176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1.44x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183879" y="4965192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229600" y="500176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1.33x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555480" y="4965192"/>
            <a:ext cx="137160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9601200" y="5001768"/>
            <a:ext cx="1280160" cy="3931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404040"/>
                </a:solidFill>
              </a:rPr>
              <a:t>1.11x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2743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Dialog Axiata PLC  |  Financial Due Diligence  |  FY2020–2024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CONFIDENTIAL  |  For Discussion Only  |  Slide 7 of 10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Competitor Benchmarking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15773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 i="0">
                <a:solidFill>
                  <a:srgbClr val="C9A227"/>
                </a:solidFill>
              </a:rPr>
              <a:t>SLIDE 8 OF 10</a:t>
            </a:r>
          </a:p>
        </p:txBody>
      </p:sp>
      <p:pic>
        <p:nvPicPr>
          <p:cNvPr id="5" name="Picture 4" descr="chart3_competitor_ebit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14400"/>
            <a:ext cx="7132320" cy="39319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543800" y="914400"/>
            <a:ext cx="1577340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0" y="941832"/>
            <a:ext cx="219456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Company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9121140" y="914400"/>
            <a:ext cx="1009498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66860" y="941832"/>
            <a:ext cx="96377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EBITDA Margin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130638" y="914400"/>
            <a:ext cx="1009498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176358" y="941832"/>
            <a:ext cx="963778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Debt/Equity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140136" y="914400"/>
            <a:ext cx="820217" cy="34747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85856" y="941832"/>
            <a:ext cx="774497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ROE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43800" y="1261872"/>
            <a:ext cx="1577340" cy="457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89520" y="1298448"/>
            <a:ext cx="21945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1" i="0">
                <a:solidFill>
                  <a:srgbClr val="1F3864"/>
                </a:solidFill>
              </a:rPr>
              <a:t>Dialog Axiata (LK)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21140" y="1261872"/>
            <a:ext cx="1009498" cy="457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66860" y="1298448"/>
            <a:ext cx="96377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38.7%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30638" y="1261872"/>
            <a:ext cx="1009498" cy="457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76358" y="1298448"/>
            <a:ext cx="96377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1.38x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140136" y="1261872"/>
            <a:ext cx="820217" cy="457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185856" y="1298448"/>
            <a:ext cx="774497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1" i="0">
                <a:solidFill>
                  <a:srgbClr val="1F3864"/>
                </a:solidFill>
              </a:rPr>
              <a:t>15.9%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43800" y="1737360"/>
            <a:ext cx="15773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0" y="1773936"/>
            <a:ext cx="21945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Axiata Group (MY)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21140" y="1737360"/>
            <a:ext cx="100949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66860" y="1773936"/>
            <a:ext cx="96377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42.4%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130638" y="1737360"/>
            <a:ext cx="100949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76358" y="1773936"/>
            <a:ext cx="96377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70.0x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140136" y="1737360"/>
            <a:ext cx="82021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185856" y="1773936"/>
            <a:ext cx="774497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1.3%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43800" y="2212848"/>
            <a:ext cx="157734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589520" y="2249424"/>
            <a:ext cx="21945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Bharti Airtel (IN)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21140" y="2212848"/>
            <a:ext cx="1009498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66860" y="2249424"/>
            <a:ext cx="96377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52.0%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130638" y="2212848"/>
            <a:ext cx="1009498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176358" y="2249424"/>
            <a:ext cx="96377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117.1x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140136" y="2212848"/>
            <a:ext cx="820217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185856" y="2249424"/>
            <a:ext cx="774497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23.1%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543800" y="2688336"/>
            <a:ext cx="15773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589520" y="2724912"/>
            <a:ext cx="21945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Indosat (ID)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21140" y="2688336"/>
            <a:ext cx="100949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66860" y="2724912"/>
            <a:ext cx="96377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37.2%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130638" y="2688336"/>
            <a:ext cx="100949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76358" y="2724912"/>
            <a:ext cx="96377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139.0x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140136" y="2688336"/>
            <a:ext cx="820217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1185856" y="2724912"/>
            <a:ext cx="774497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15.3%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543800" y="3163824"/>
            <a:ext cx="1577340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Telkom Indonesia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21140" y="3163824"/>
            <a:ext cx="1009498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166860" y="3200400"/>
            <a:ext cx="96377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41.8%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30638" y="3163824"/>
            <a:ext cx="1009498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176358" y="3200400"/>
            <a:ext cx="96377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50.1x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140136" y="3163824"/>
            <a:ext cx="820217" cy="4572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1185856" y="3200400"/>
            <a:ext cx="774497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18.3%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543800" y="3639312"/>
            <a:ext cx="1577340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589520" y="3675887"/>
            <a:ext cx="219456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</a:rPr>
              <a:t>Peer Average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21140" y="3639312"/>
            <a:ext cx="1009498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166860" y="3675887"/>
            <a:ext cx="96377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43.4%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130638" y="3639312"/>
            <a:ext cx="1009498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176358" y="3675887"/>
            <a:ext cx="963778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94.1x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140136" y="3639312"/>
            <a:ext cx="820217" cy="457200"/>
          </a:xfrm>
          <a:prstGeom prst="rect">
            <a:avLst/>
          </a:prstGeom>
          <a:solidFill>
            <a:srgbClr val="E8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1185856" y="3675887"/>
            <a:ext cx="774497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900" b="0" i="0">
                <a:solidFill>
                  <a:srgbClr val="404040"/>
                </a:solidFill>
              </a:rPr>
              <a:t>14.5%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543800" y="4160520"/>
            <a:ext cx="82296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7543800" y="4251959"/>
            <a:ext cx="8229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1" i="0">
                <a:solidFill>
                  <a:srgbClr val="C9A227"/>
                </a:solidFill>
              </a:rPr>
              <a:t>LEVERAGE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60" y="4206240"/>
            <a:ext cx="354787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Dialog 1.38x D/E vs 94x peer avg. Cleanest balance sheet — lowest acquisition financing risk.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543800" y="4736592"/>
            <a:ext cx="82296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43800" y="4828031"/>
            <a:ext cx="8229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1" i="0">
                <a:solidFill>
                  <a:srgbClr val="C9A227"/>
                </a:solidFill>
              </a:rPr>
              <a:t>MARGIN GAP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66760" y="4782312"/>
            <a:ext cx="354787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4.7pp below peer average. Closing this gap on LKR 171Bn revenue = significant EBITDA upside.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543800" y="5312664"/>
            <a:ext cx="822960" cy="5029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543800" y="5404103"/>
            <a:ext cx="822960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700" b="1" i="0">
                <a:solidFill>
                  <a:srgbClr val="C9A227"/>
                </a:solidFill>
              </a:rPr>
              <a:t>ROE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66760" y="5358383"/>
            <a:ext cx="3547872" cy="457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50" b="0" i="0">
                <a:solidFill>
                  <a:srgbClr val="404040"/>
                </a:solidFill>
              </a:rPr>
              <a:t>15.9% ROE — above peer average 14.5% and well above Axiata Group (1.3%).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8600" y="6035040"/>
            <a:ext cx="11731752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65760" y="6053328"/>
            <a:ext cx="114300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 i="0">
                <a:solidFill>
                  <a:srgbClr val="404040"/>
                </a:solidFill>
              </a:rPr>
              <a:t>Source: Dialog data from Annual Report 2024 (PDF verified). Peers: yfinance API with FX conversion to USD (2024 avg rates).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274320" y="6473952"/>
            <a:ext cx="73152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Dialog Axiata PLC  |  Financial Due Diligence  |  FY2020–2024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CONFIDENTIAL  |  For Discussion Only  |  Slide 8 of 10</a:t>
            </a: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DCF Valuation — 3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02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C9A227"/>
                </a:solidFill>
              </a:rPr>
              <a:t>Base year: FY2024  |  5-year explicit period  |  WACC-based terminal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C9A227"/>
                </a:solidFill>
              </a:rPr>
              <a:t>SLIDE 9 OF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3749039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9601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BULL CASE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3749039" cy="3383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150876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WACC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50876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F3864"/>
                </a:solidFill>
              </a:rPr>
              <a:t>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84248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Rev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1984248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F3864"/>
                </a:solidFill>
              </a:rPr>
              <a:t>12% / 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459736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EBITDA Margin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2459736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F3864"/>
                </a:solidFill>
              </a:rPr>
              <a:t>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935224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Capex % Rev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93522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F3864"/>
                </a:solidFill>
              </a:rPr>
              <a:t>18%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246120"/>
            <a:ext cx="3749039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3375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Enterprise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3375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C9A227"/>
                </a:solidFill>
              </a:rPr>
              <a:t>LKR 693Bn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7033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Equity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37033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 i="0">
                <a:solidFill>
                  <a:srgbClr val="C9A227"/>
                </a:solidFill>
              </a:rPr>
              <a:t>LKR 619Bn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0690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Price/Share: LKR 75.48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4434840"/>
            <a:ext cx="3749039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0040" y="4462272"/>
            <a:ext cx="3566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5G monetisation accelerates, margins recover to peer average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15384" y="960120"/>
            <a:ext cx="3749039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15384" y="9601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BASE CASE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15384" y="1417320"/>
            <a:ext cx="3749039" cy="3383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52544" y="150876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WACC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44184" y="150876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F3864"/>
                </a:solidFill>
              </a:rPr>
              <a:t>12%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2544" y="1984248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Rev 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44184" y="1984248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F3864"/>
                </a:solidFill>
              </a:rPr>
              <a:t>6% / 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2544" y="2459736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EBITDA Margin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44184" y="2459736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F3864"/>
                </a:solidFill>
              </a:rPr>
              <a:t>37%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52544" y="2935224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Capex % Rev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44184" y="293522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F3864"/>
                </a:solidFill>
              </a:rPr>
              <a:t>20%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15384" y="3246120"/>
            <a:ext cx="3749039" cy="457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352544" y="33375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Enterprise Value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92824" y="33375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1F3864"/>
                </a:solidFill>
              </a:rPr>
              <a:t>LKR 294Bn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52544" y="37033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Equity Value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44184" y="37033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 i="0">
                <a:solidFill>
                  <a:srgbClr val="1F3864"/>
                </a:solidFill>
              </a:rPr>
              <a:t>LKR 220Bn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52544" y="40690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Price/Share: LKR 26.86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15384" y="4434840"/>
            <a:ext cx="3749039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06824" y="4462272"/>
            <a:ext cx="3566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Steady recovery, moderate growth, stable macro environment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02168" y="960120"/>
            <a:ext cx="3749039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02168" y="96012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BEAR CASE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02168" y="1417320"/>
            <a:ext cx="3749039" cy="33832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39328" y="1508760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WACC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30968" y="1508760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F3864"/>
                </a:solidFill>
              </a:rPr>
              <a:t>14%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9328" y="1984248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Rev Growth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30968" y="1984248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F3864"/>
                </a:solidFill>
              </a:rPr>
              <a:t>0% / 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9328" y="2459736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EBITDA Margin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30968" y="2459736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F3864"/>
                </a:solidFill>
              </a:rPr>
              <a:t>32%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39328" y="2935224"/>
            <a:ext cx="1645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Capex % Rev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30968" y="2935224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 i="0">
                <a:solidFill>
                  <a:srgbClr val="1F3864"/>
                </a:solidFill>
              </a:rPr>
              <a:t>22%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02168" y="3246120"/>
            <a:ext cx="3749039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39328" y="333756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Enterprise Value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579608" y="3337560"/>
            <a:ext cx="1463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1" i="0">
                <a:solidFill>
                  <a:srgbClr val="C00000"/>
                </a:solidFill>
              </a:rPr>
              <a:t>LKR 117Bn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39328" y="370332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</a:rPr>
              <a:t>Equity Value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30968" y="37033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 b="1" i="0">
                <a:solidFill>
                  <a:srgbClr val="C00000"/>
                </a:solidFill>
              </a:rPr>
              <a:t>LKR 43Bn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39328" y="406908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Price/Share: LKR 5.25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02168" y="4434840"/>
            <a:ext cx="3749039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293608" y="4462272"/>
            <a:ext cx="3566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1">
                <a:solidFill>
                  <a:srgbClr val="404040"/>
                </a:solidFill>
              </a:rPr>
              <a:t>Macro headwinds persist, margin pressure, limited growth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28600" y="5212080"/>
            <a:ext cx="11731752" cy="41148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65760" y="5230368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F3864"/>
                </a:solidFill>
              </a:rPr>
              <a:t>Current market cap ~LKR 240Bn  |  Base case equity LKR 220Bn  |  Bull case LKR 619Bn  |  Net debt deducted: LKR 73,908Mn  |  Source: Excel DCF model (PDF-verified inputs)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274320" y="6473952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Dialog Axiata PLC  |  Financial Due Diligence  |  FY2020–2024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6473952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FFFFFF"/>
                </a:solidFill>
              </a:rPr>
              <a:t>CONFIDENTIAL  |  For Discussion Only  |  Slide 9 of 10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Risks &amp; Recommendation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C9A227"/>
                </a:solidFill>
              </a:rPr>
              <a:t>SLIDE 10 OF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914400"/>
            <a:ext cx="5943600" cy="41148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</a:rPr>
              <a:t>KEY RISKS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417320"/>
            <a:ext cx="731520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158191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1417320"/>
            <a:ext cx="5166360" cy="685800"/>
          </a:xfrm>
          <a:prstGeom prst="rect">
            <a:avLst/>
          </a:prstGeom>
          <a:solidFill>
            <a:srgbClr val="1A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1527048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Macro / FX risk — Sri Lanka sovereign debt restructuring ongoing. LKR volatility can recur.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2286000"/>
            <a:ext cx="731520" cy="6858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28600" y="245059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286000"/>
            <a:ext cx="5166360" cy="685800"/>
          </a:xfrm>
          <a:prstGeom prst="rect">
            <a:avLst/>
          </a:prstGeom>
          <a:solidFill>
            <a:srgbClr val="1A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2395728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Revenue decline — 2024 dip of 8.9% needs 2–3 quarters of data to confirm recovery.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154680"/>
            <a:ext cx="731520" cy="685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8600" y="3319272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3154680"/>
            <a:ext cx="5166360" cy="685800"/>
          </a:xfrm>
          <a:prstGeom prst="rect">
            <a:avLst/>
          </a:prstGeom>
          <a:solidFill>
            <a:srgbClr val="1A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264408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Debt load — LKR 107,694Mn total debt manageable but interest compressing net margins.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" y="4023359"/>
            <a:ext cx="731520" cy="6858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28600" y="4187951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MED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023359"/>
            <a:ext cx="5166360" cy="685800"/>
          </a:xfrm>
          <a:prstGeom prst="rect">
            <a:avLst/>
          </a:prstGeom>
          <a:solidFill>
            <a:srgbClr val="1A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133087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Competition — SLT-Mobitel competing aggressively on pricing in broadband.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892040"/>
            <a:ext cx="731520" cy="6858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8600" y="5056631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4892040"/>
            <a:ext cx="5166360" cy="685800"/>
          </a:xfrm>
          <a:prstGeom prst="rect">
            <a:avLst/>
          </a:prstGeom>
          <a:solidFill>
            <a:srgbClr val="1A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97280" y="5001768"/>
            <a:ext cx="5029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5G execution risk — capex for rollout could delay deleveraging timeline.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914400"/>
            <a:ext cx="5468112" cy="516636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492240" y="914400"/>
            <a:ext cx="5468112" cy="5486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0" y="914400"/>
            <a:ext cx="54681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F3864"/>
                </a:solidFill>
              </a:rPr>
              <a:t>RECOMMENDATION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1554480"/>
            <a:ext cx="546811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C9A227"/>
                </a:solidFill>
              </a:rPr>
              <a:t>CAUTIOUS BUY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33172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1.  Entry at or below LKR 7.50/share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97180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2.  Condition: 2 consecutive quarters of revenue recovery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611879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3.  Monitor: LKR/USD stability &amp; IMF programme milestones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251959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4.  Catalyst: 5G commercial launch &amp; enterprise traction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4892040"/>
            <a:ext cx="5212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5.  Exit: 18–24 months at 7–8x EV/EBITDA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6126480"/>
            <a:ext cx="11731752" cy="411480"/>
          </a:xfrm>
          <a:prstGeom prst="rect">
            <a:avLst/>
          </a:prstGeom>
          <a:solidFill>
            <a:srgbClr val="0A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" y="6153912"/>
            <a:ext cx="11430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 i="0">
                <a:solidFill>
                  <a:srgbClr val="C9A227"/>
                </a:solidFill>
              </a:rPr>
              <a:t>Built with: Python (yfinance, pandas)  ·  R (ggplot2, dplyr)  ·  Excel Financial Model  ·  PDF extraction from 5 official Dialog Axiata Annual Reports</a:t>
            </a: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1547</Words>
  <Application>Microsoft Office PowerPoint</Application>
  <PresentationFormat>Custom</PresentationFormat>
  <Paragraphs>269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ashi ka</cp:lastModifiedBy>
  <cp:revision>3</cp:revision>
  <dcterms:created xsi:type="dcterms:W3CDTF">2013-01-27T09:14:16Z</dcterms:created>
  <dcterms:modified xsi:type="dcterms:W3CDTF">2026-04-04T13:17:03Z</dcterms:modified>
  <cp:category/>
</cp:coreProperties>
</file>